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ece2023092-cloud/seasonal_agriculture_performance.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04833" y="3583914"/>
            <a:ext cx="7485923" cy="861497"/>
          </a:xfrm>
        </p:spPr>
        <p:txBody>
          <a:bodyPr vert="horz" lIns="91440" tIns="45720" rIns="91440" bIns="45720" rtlCol="0" anchor="t">
            <a:normAutofit/>
          </a:bodyPr>
          <a:lstStyle/>
          <a:p>
            <a:r>
              <a:rPr lang="en-IN" b="0" dirty="0">
                <a:solidFill>
                  <a:schemeClr val="tx1"/>
                </a:solidFill>
              </a:rPr>
              <a:t>NAME :- ABHAY YADAV</a:t>
            </a:r>
          </a:p>
          <a:p>
            <a:r>
              <a:rPr lang="en-IN" b="0" dirty="0">
                <a:solidFill>
                  <a:schemeClr val="tx1"/>
                </a:solidFill>
              </a:rPr>
              <a:t>COLLEGE NAME:- RCC Institute of Information Technology</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7485922" cy="743448"/>
          </a:xfrm>
        </p:spPr>
        <p:txBody>
          <a:bodyPr>
            <a:normAutofit fontScale="90000"/>
          </a:bodyPr>
          <a:lstStyle/>
          <a:p>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 y="4576469"/>
            <a:ext cx="7485923" cy="461665"/>
          </a:xfrm>
          <a:prstGeom prst="rect">
            <a:avLst/>
          </a:prstGeom>
          <a:noFill/>
        </p:spPr>
        <p:txBody>
          <a:bodyPr wrap="square" rtlCol="0">
            <a:spAutoFit/>
          </a:bodyPr>
          <a:lstStyle/>
          <a:p>
            <a:r>
              <a:rPr lang="en-US" sz="2400" b="1" dirty="0"/>
              <a:t>AICTE STU ID : STU6a6ad2679770b1785385575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7297420" cy="4432027"/>
          </a:xfrm>
        </p:spPr>
        <p:txBody>
          <a:bodyPr vert="horz" lIns="91440" tIns="45720" rIns="91440" bIns="45720" rtlCol="0" anchor="t">
            <a:normAutofit fontScale="62500" lnSpcReduction="20000"/>
          </a:bodyPr>
          <a:lstStyle/>
          <a:p>
            <a:pPr>
              <a:lnSpc>
                <a:spcPct val="15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3600" dirty="0"/>
              <a:t>Project</a:t>
            </a:r>
            <a:r>
              <a:rPr lang="en-GB" sz="2800" dirty="0"/>
              <a:t> </a:t>
            </a:r>
            <a:r>
              <a:rPr lang="en-GB" sz="4000" dirty="0"/>
              <a:t>Description</a:t>
            </a:r>
            <a:br>
              <a:rPr lang="en-GB" sz="2800" dirty="0"/>
            </a:br>
            <a:br>
              <a:rPr lang="en-GB" sz="2800" dirty="0"/>
            </a:br>
            <a:r>
              <a:rPr lang="en-US" sz="2800" b="0" dirty="0"/>
              <a:t>Analyzed 4,000 agricultural records to identify seasonal patterns in crop yield, profit, water usage, and environmental conditions using Python, Pandas, Matplotlib, and Seaborn. Developed data-driven insights and </a:t>
            </a:r>
            <a:r>
              <a:rPr lang="en-US" sz="2400" b="0" dirty="0"/>
              <a:t>recommendations</a:t>
            </a:r>
            <a:r>
              <a:rPr lang="en-US" sz="2800" b="0" dirty="0"/>
              <a:t> for improving agricultural performance.</a:t>
            </a:r>
            <a:endParaRPr lang="en-IN" sz="28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lnSpcReduction="20000"/>
          </a:bodyPr>
          <a:lstStyle/>
          <a:p>
            <a:pPr marL="0" indent="0" algn="just">
              <a:lnSpc>
                <a:spcPct val="150000"/>
              </a:lnSpc>
              <a:buNone/>
            </a:pPr>
            <a:r>
              <a:rPr lang="en-IN" sz="3600" dirty="0"/>
              <a:t>The end users are </a:t>
            </a:r>
          </a:p>
          <a:p>
            <a:pPr algn="just">
              <a:lnSpc>
                <a:spcPct val="150000"/>
              </a:lnSpc>
            </a:pPr>
            <a:r>
              <a:rPr lang="en-IN" sz="3600" dirty="0"/>
              <a:t>Farmers</a:t>
            </a:r>
          </a:p>
          <a:p>
            <a:pPr algn="just">
              <a:lnSpc>
                <a:spcPct val="150000"/>
              </a:lnSpc>
            </a:pPr>
            <a:r>
              <a:rPr lang="en-IN" sz="3600" dirty="0"/>
              <a:t>Agricultural planners</a:t>
            </a:r>
          </a:p>
          <a:p>
            <a:pPr algn="just">
              <a:lnSpc>
                <a:spcPct val="150000"/>
              </a:lnSpc>
            </a:pPr>
            <a:r>
              <a:rPr lang="en-IN" sz="3600" dirty="0"/>
              <a:t>Agricultural researchers</a:t>
            </a:r>
          </a:p>
          <a:p>
            <a:pPr algn="just">
              <a:lnSpc>
                <a:spcPct val="150000"/>
              </a:lnSpc>
            </a:pPr>
            <a:r>
              <a:rPr lang="en-IN" sz="3600" dirty="0" err="1"/>
              <a:t>Agribuisinesses</a:t>
            </a:r>
            <a:endParaRPr lang="en-IN" sz="3600" dirty="0"/>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55270" y="1432560"/>
            <a:ext cx="8063049" cy="5243448"/>
          </a:xfrm>
        </p:spPr>
        <p:txBody>
          <a:bodyPr/>
          <a:lstStyle/>
          <a:p>
            <a:pPr lvl="1">
              <a:lnSpc>
                <a:spcPct val="150000"/>
              </a:lnSpc>
            </a:pPr>
            <a:r>
              <a:rPr lang="en-IN" dirty="0"/>
              <a:t>Python</a:t>
            </a:r>
          </a:p>
          <a:p>
            <a:pPr lvl="1">
              <a:lnSpc>
                <a:spcPct val="150000"/>
              </a:lnSpc>
            </a:pPr>
            <a:r>
              <a:rPr lang="en-IN" dirty="0"/>
              <a:t>Google </a:t>
            </a:r>
            <a:r>
              <a:rPr lang="en-IN" dirty="0" err="1"/>
              <a:t>colab</a:t>
            </a:r>
            <a:endParaRPr lang="en-IN" dirty="0"/>
          </a:p>
          <a:p>
            <a:pPr lvl="1">
              <a:lnSpc>
                <a:spcPct val="150000"/>
              </a:lnSpc>
            </a:pPr>
            <a:r>
              <a:rPr lang="en-IN" dirty="0"/>
              <a:t>Pandas</a:t>
            </a:r>
          </a:p>
          <a:p>
            <a:pPr lvl="1">
              <a:lnSpc>
                <a:spcPct val="150000"/>
              </a:lnSpc>
            </a:pPr>
            <a:r>
              <a:rPr lang="en-IN" dirty="0" err="1"/>
              <a:t>Numpy</a:t>
            </a:r>
            <a:endParaRPr lang="en-IN" dirty="0"/>
          </a:p>
          <a:p>
            <a:pPr lvl="1">
              <a:lnSpc>
                <a:spcPct val="150000"/>
              </a:lnSpc>
            </a:pPr>
            <a:r>
              <a:rPr lang="en-IN" dirty="0"/>
              <a:t>Matplotlib</a:t>
            </a:r>
          </a:p>
          <a:p>
            <a:pPr lvl="1">
              <a:lnSpc>
                <a:spcPct val="150000"/>
              </a:lnSpc>
            </a:pPr>
            <a:r>
              <a:rPr lang="en-IN" dirty="0"/>
              <a:t>Seaborn</a:t>
            </a:r>
          </a:p>
          <a:p>
            <a:pPr lvl="1">
              <a:lnSpc>
                <a:spcPct val="150000"/>
              </a:lnSpc>
            </a:pPr>
            <a:r>
              <a:rPr lang="en-IN" dirty="0"/>
              <a:t>CSV dataset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IN" dirty="0"/>
          </a:p>
        </p:txBody>
      </p:sp>
      <p:pic>
        <p:nvPicPr>
          <p:cNvPr id="3" name="Picture 2">
            <a:extLst>
              <a:ext uri="{FF2B5EF4-FFF2-40B4-BE49-F238E27FC236}">
                <a16:creationId xmlns:a16="http://schemas.microsoft.com/office/drawing/2014/main" id="{3CAD9401-39BF-72E4-6151-E6CDE6936D7B}"/>
              </a:ext>
            </a:extLst>
          </p:cNvPr>
          <p:cNvPicPr>
            <a:picLocks noChangeAspect="1"/>
          </p:cNvPicPr>
          <p:nvPr/>
        </p:nvPicPr>
        <p:blipFill>
          <a:blip r:embed="rId3"/>
          <a:stretch>
            <a:fillRect/>
          </a:stretch>
        </p:blipFill>
        <p:spPr>
          <a:xfrm>
            <a:off x="116120" y="1212161"/>
            <a:ext cx="5579463" cy="916584"/>
          </a:xfrm>
          <a:prstGeom prst="rect">
            <a:avLst/>
          </a:prstGeom>
        </p:spPr>
      </p:pic>
      <p:pic>
        <p:nvPicPr>
          <p:cNvPr id="9" name="Picture 8">
            <a:extLst>
              <a:ext uri="{FF2B5EF4-FFF2-40B4-BE49-F238E27FC236}">
                <a16:creationId xmlns:a16="http://schemas.microsoft.com/office/drawing/2014/main" id="{A8BBC946-56FC-3005-BC49-E206A19B4A30}"/>
              </a:ext>
            </a:extLst>
          </p:cNvPr>
          <p:cNvPicPr>
            <a:picLocks noChangeAspect="1"/>
          </p:cNvPicPr>
          <p:nvPr/>
        </p:nvPicPr>
        <p:blipFill>
          <a:blip r:embed="rId4"/>
          <a:stretch>
            <a:fillRect/>
          </a:stretch>
        </p:blipFill>
        <p:spPr>
          <a:xfrm>
            <a:off x="5763453" y="882687"/>
            <a:ext cx="5579463" cy="5297169"/>
          </a:xfrm>
          <a:prstGeom prst="rect">
            <a:avLst/>
          </a:prstGeom>
        </p:spPr>
      </p:pic>
      <p:sp>
        <p:nvSpPr>
          <p:cNvPr id="11" name="TextBox 10">
            <a:extLst>
              <a:ext uri="{FF2B5EF4-FFF2-40B4-BE49-F238E27FC236}">
                <a16:creationId xmlns:a16="http://schemas.microsoft.com/office/drawing/2014/main" id="{B5193B7B-F313-4222-FDE3-B3E7A0AED219}"/>
              </a:ext>
            </a:extLst>
          </p:cNvPr>
          <p:cNvSpPr txBox="1"/>
          <p:nvPr/>
        </p:nvSpPr>
        <p:spPr>
          <a:xfrm>
            <a:off x="641550" y="2794817"/>
            <a:ext cx="4620915" cy="1954381"/>
          </a:xfrm>
          <a:prstGeom prst="rect">
            <a:avLst/>
          </a:prstGeom>
          <a:noFill/>
        </p:spPr>
        <p:txBody>
          <a:bodyPr wrap="square" rtlCol="0">
            <a:spAutoFit/>
          </a:bodyPr>
          <a:lstStyle/>
          <a:p>
            <a:r>
              <a:rPr lang="en-US" sz="1100" dirty="0"/>
              <a:t>The pair plot shows relationships between temperature, rainfall, humidity, yield, and profit across different seasons.</a:t>
            </a:r>
          </a:p>
          <a:p>
            <a:pPr>
              <a:buFont typeface="Arial" panose="020B0604020202020204" pitchFamily="34" charset="0"/>
              <a:buChar char="•"/>
            </a:pPr>
            <a:r>
              <a:rPr lang="en-US" sz="1100" dirty="0"/>
              <a:t>Kharif, Rabi, and Zaid are shown using different colors. </a:t>
            </a:r>
          </a:p>
          <a:p>
            <a:pPr>
              <a:buFont typeface="Arial" panose="020B0604020202020204" pitchFamily="34" charset="0"/>
              <a:buChar char="•"/>
            </a:pPr>
            <a:r>
              <a:rPr lang="en-US" sz="1100" dirty="0"/>
              <a:t>It helps identify relationships and patterns between environmental conditions and agricultural performance. </a:t>
            </a:r>
          </a:p>
          <a:p>
            <a:pPr>
              <a:buFont typeface="Arial" panose="020B0604020202020204" pitchFamily="34" charset="0"/>
              <a:buChar char="•"/>
            </a:pPr>
            <a:r>
              <a:rPr lang="en-US" sz="1100" dirty="0"/>
              <a:t>Yield and profit vary across seasons, with Kharif generally showing better performance. </a:t>
            </a:r>
          </a:p>
          <a:p>
            <a:pPr>
              <a:buFont typeface="Arial" panose="020B0604020202020204" pitchFamily="34" charset="0"/>
              <a:buChar char="•"/>
            </a:pPr>
            <a:r>
              <a:rPr lang="en-US" sz="1100" dirty="0"/>
              <a:t>The plot shows that environmental factors such as rainfall and temperature vary by season. </a:t>
            </a:r>
          </a:p>
          <a:p>
            <a:pPr>
              <a:buFont typeface="Arial" panose="020B0604020202020204" pitchFamily="34" charset="0"/>
              <a:buChar char="•"/>
            </a:pPr>
            <a:r>
              <a:rPr lang="en-US" sz="1100" dirty="0"/>
              <a:t>The diagonal graphs show the distribution of each variable</a:t>
            </a:r>
          </a:p>
          <a:p>
            <a:endParaRPr lang="en-US" sz="11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3132EE3-48AF-57E6-1608-81C80778088F}"/>
              </a:ext>
            </a:extLst>
          </p:cNvPr>
          <p:cNvPicPr>
            <a:picLocks noChangeAspect="1"/>
          </p:cNvPicPr>
          <p:nvPr/>
        </p:nvPicPr>
        <p:blipFill>
          <a:blip r:embed="rId3"/>
          <a:stretch>
            <a:fillRect/>
          </a:stretch>
        </p:blipFill>
        <p:spPr>
          <a:xfrm>
            <a:off x="4464121" y="925127"/>
            <a:ext cx="7584179" cy="4501180"/>
          </a:xfrm>
          <a:prstGeom prst="rect">
            <a:avLst/>
          </a:prstGeom>
        </p:spPr>
      </p:pic>
      <p:pic>
        <p:nvPicPr>
          <p:cNvPr id="9" name="Picture 8">
            <a:extLst>
              <a:ext uri="{FF2B5EF4-FFF2-40B4-BE49-F238E27FC236}">
                <a16:creationId xmlns:a16="http://schemas.microsoft.com/office/drawing/2014/main" id="{CBF8B1F2-4890-76DE-268B-1187B07F6077}"/>
              </a:ext>
            </a:extLst>
          </p:cNvPr>
          <p:cNvPicPr>
            <a:picLocks noChangeAspect="1"/>
          </p:cNvPicPr>
          <p:nvPr/>
        </p:nvPicPr>
        <p:blipFill>
          <a:blip r:embed="rId4"/>
          <a:stretch>
            <a:fillRect/>
          </a:stretch>
        </p:blipFill>
        <p:spPr>
          <a:xfrm>
            <a:off x="299265" y="1236032"/>
            <a:ext cx="3761595" cy="2798730"/>
          </a:xfrm>
          <a:prstGeom prst="rect">
            <a:avLst/>
          </a:prstGeom>
        </p:spPr>
      </p:pic>
      <p:sp>
        <p:nvSpPr>
          <p:cNvPr id="13" name="Text Placeholder 12">
            <a:extLst>
              <a:ext uri="{FF2B5EF4-FFF2-40B4-BE49-F238E27FC236}">
                <a16:creationId xmlns:a16="http://schemas.microsoft.com/office/drawing/2014/main" id="{AF3797EA-6359-737C-4389-63B77EB9F853}"/>
              </a:ext>
            </a:extLst>
          </p:cNvPr>
          <p:cNvSpPr>
            <a:spLocks noGrp="1"/>
          </p:cNvSpPr>
          <p:nvPr>
            <p:ph type="body" sz="quarter" idx="12"/>
          </p:nvPr>
        </p:nvSpPr>
        <p:spPr>
          <a:xfrm>
            <a:off x="320982" y="4249905"/>
            <a:ext cx="4586920" cy="2352804"/>
          </a:xfrm>
        </p:spPr>
        <p:txBody>
          <a:bodyPr>
            <a:normAutofit fontScale="62500" lnSpcReduction="20000"/>
          </a:bodyPr>
          <a:lstStyle/>
          <a:p>
            <a:r>
              <a:rPr lang="en-US" dirty="0"/>
              <a:t>The scatter plot shows the relationship between </a:t>
            </a:r>
            <a:r>
              <a:rPr lang="en-US" b="1" dirty="0"/>
              <a:t>Yield and Profit</a:t>
            </a:r>
            <a:r>
              <a:rPr lang="en-US" dirty="0"/>
              <a:t> for different seasons.</a:t>
            </a:r>
          </a:p>
          <a:p>
            <a:pPr>
              <a:buFont typeface="Arial" panose="020B0604020202020204" pitchFamily="34" charset="0"/>
              <a:buChar char="•"/>
            </a:pPr>
            <a:r>
              <a:rPr lang="en-US" b="1" dirty="0"/>
              <a:t>Kharif:</a:t>
            </a:r>
            <a:r>
              <a:rPr lang="en-US" dirty="0"/>
              <a:t> Generally shows higher yield and higher profit. </a:t>
            </a:r>
          </a:p>
          <a:p>
            <a:pPr>
              <a:buFont typeface="Arial" panose="020B0604020202020204" pitchFamily="34" charset="0"/>
              <a:buChar char="•"/>
            </a:pPr>
            <a:r>
              <a:rPr lang="en-US" b="1" dirty="0"/>
              <a:t>Rabi:</a:t>
            </a:r>
            <a:r>
              <a:rPr lang="en-US" dirty="0"/>
              <a:t> Shows moderate yield and profit. </a:t>
            </a:r>
          </a:p>
          <a:p>
            <a:pPr>
              <a:buFont typeface="Arial" panose="020B0604020202020204" pitchFamily="34" charset="0"/>
              <a:buChar char="•"/>
            </a:pPr>
            <a:r>
              <a:rPr lang="en-US" b="1" dirty="0"/>
              <a:t>Zaid:</a:t>
            </a:r>
            <a:r>
              <a:rPr lang="en-US" dirty="0"/>
              <a:t> Generally has lower yield and often lower/negative profit. </a:t>
            </a:r>
          </a:p>
          <a:p>
            <a:pPr>
              <a:buFont typeface="Arial" panose="020B0604020202020204" pitchFamily="34" charset="0"/>
              <a:buChar char="•"/>
            </a:pPr>
            <a:r>
              <a:rPr lang="en-US" dirty="0"/>
              <a:t>The </a:t>
            </a:r>
            <a:r>
              <a:rPr lang="en-US" b="1" dirty="0"/>
              <a:t>bubble size</a:t>
            </a:r>
            <a:r>
              <a:rPr lang="en-US" dirty="0"/>
              <a:t> represents farm area — bigger bubbles mean larger farms. </a:t>
            </a:r>
          </a:p>
          <a:p>
            <a:pPr>
              <a:buFont typeface="Arial" panose="020B0604020202020204" pitchFamily="34" charset="0"/>
              <a:buChar char="•"/>
            </a:pPr>
            <a:r>
              <a:rPr lang="en-US" dirty="0"/>
              <a:t>The graph helps compare whether </a:t>
            </a:r>
            <a:r>
              <a:rPr lang="en-US" b="1" dirty="0"/>
              <a:t>higher yield is associated with higher profit</a:t>
            </a:r>
            <a:r>
              <a:rPr lang="en-US" dirty="0"/>
              <a:t> across seasons.</a:t>
            </a:r>
          </a:p>
          <a:p>
            <a:endParaRPr lang="en-US"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25B62696-5B96-06ED-7655-C4152B1C60E3}"/>
              </a:ext>
            </a:extLst>
          </p:cNvPr>
          <p:cNvPicPr>
            <a:picLocks noChangeAspect="1"/>
          </p:cNvPicPr>
          <p:nvPr/>
        </p:nvPicPr>
        <p:blipFill>
          <a:blip r:embed="rId3"/>
          <a:stretch>
            <a:fillRect/>
          </a:stretch>
        </p:blipFill>
        <p:spPr>
          <a:xfrm>
            <a:off x="555008" y="1275371"/>
            <a:ext cx="3223539" cy="4023709"/>
          </a:xfrm>
          <a:prstGeom prst="rect">
            <a:avLst/>
          </a:prstGeom>
        </p:spPr>
      </p:pic>
      <p:pic>
        <p:nvPicPr>
          <p:cNvPr id="9" name="Picture 8">
            <a:extLst>
              <a:ext uri="{FF2B5EF4-FFF2-40B4-BE49-F238E27FC236}">
                <a16:creationId xmlns:a16="http://schemas.microsoft.com/office/drawing/2014/main" id="{7789DA05-EDE6-9163-E9A2-E90D0F53CBC3}"/>
              </a:ext>
            </a:extLst>
          </p:cNvPr>
          <p:cNvPicPr>
            <a:picLocks noChangeAspect="1"/>
          </p:cNvPicPr>
          <p:nvPr/>
        </p:nvPicPr>
        <p:blipFill>
          <a:blip r:embed="rId4"/>
          <a:stretch>
            <a:fillRect/>
          </a:stretch>
        </p:blipFill>
        <p:spPr>
          <a:xfrm>
            <a:off x="4345694" y="1097232"/>
            <a:ext cx="6446533" cy="437998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1D7961D5-F525-1188-6D75-2F7F58D0FFB4}"/>
              </a:ext>
            </a:extLst>
          </p:cNvPr>
          <p:cNvPicPr>
            <a:picLocks noChangeAspect="1"/>
          </p:cNvPicPr>
          <p:nvPr/>
        </p:nvPicPr>
        <p:blipFill>
          <a:blip r:embed="rId3"/>
          <a:stretch>
            <a:fillRect/>
          </a:stretch>
        </p:blipFill>
        <p:spPr>
          <a:xfrm>
            <a:off x="4150725" y="1201586"/>
            <a:ext cx="6976886" cy="4672593"/>
          </a:xfrm>
          <a:prstGeom prst="rect">
            <a:avLst/>
          </a:prstGeom>
        </p:spPr>
      </p:pic>
      <p:pic>
        <p:nvPicPr>
          <p:cNvPr id="9" name="Picture 8">
            <a:extLst>
              <a:ext uri="{FF2B5EF4-FFF2-40B4-BE49-F238E27FC236}">
                <a16:creationId xmlns:a16="http://schemas.microsoft.com/office/drawing/2014/main" id="{B3A0A05B-1163-A556-898A-0BBE18A772F6}"/>
              </a:ext>
            </a:extLst>
          </p:cNvPr>
          <p:cNvPicPr>
            <a:picLocks noChangeAspect="1"/>
          </p:cNvPicPr>
          <p:nvPr/>
        </p:nvPicPr>
        <p:blipFill>
          <a:blip r:embed="rId4"/>
          <a:stretch>
            <a:fillRect/>
          </a:stretch>
        </p:blipFill>
        <p:spPr>
          <a:xfrm>
            <a:off x="320982" y="1394978"/>
            <a:ext cx="3627434" cy="403132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88CD0D8-0584-A0D1-6CAC-AB243F603650}"/>
              </a:ext>
            </a:extLst>
          </p:cNvPr>
          <p:cNvPicPr>
            <a:picLocks noChangeAspect="1"/>
          </p:cNvPicPr>
          <p:nvPr/>
        </p:nvPicPr>
        <p:blipFill>
          <a:blip r:embed="rId3"/>
          <a:stretch>
            <a:fillRect/>
          </a:stretch>
        </p:blipFill>
        <p:spPr>
          <a:xfrm>
            <a:off x="236783" y="1431693"/>
            <a:ext cx="4562881" cy="3924078"/>
          </a:xfrm>
          <a:prstGeom prst="rect">
            <a:avLst/>
          </a:prstGeom>
        </p:spPr>
      </p:pic>
      <p:pic>
        <p:nvPicPr>
          <p:cNvPr id="9" name="Picture 8">
            <a:extLst>
              <a:ext uri="{FF2B5EF4-FFF2-40B4-BE49-F238E27FC236}">
                <a16:creationId xmlns:a16="http://schemas.microsoft.com/office/drawing/2014/main" id="{4E9F1F4B-42A8-F01B-1B3D-9C4FEDAF389C}"/>
              </a:ext>
            </a:extLst>
          </p:cNvPr>
          <p:cNvPicPr>
            <a:picLocks noChangeAspect="1"/>
          </p:cNvPicPr>
          <p:nvPr/>
        </p:nvPicPr>
        <p:blipFill>
          <a:blip r:embed="rId4"/>
          <a:stretch>
            <a:fillRect/>
          </a:stretch>
        </p:blipFill>
        <p:spPr>
          <a:xfrm>
            <a:off x="5210435" y="1431693"/>
            <a:ext cx="6537973" cy="437998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7731336" cy="430725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indent="-342900" algn="l">
              <a:buFont typeface="Arial" panose="020B0604020202020204" pitchFamily="34" charset="0"/>
              <a:buChar char="•"/>
            </a:pPr>
            <a:endParaRPr lang="en-US" sz="2000" dirty="0"/>
          </a:p>
          <a:p>
            <a:pPr marL="342900" indent="-342900" algn="l">
              <a:buFont typeface="Arial" panose="020B0604020202020204" pitchFamily="34" charset="0"/>
              <a:buChar char="•"/>
            </a:pPr>
            <a:r>
              <a:rPr lang="en-US" sz="2000" dirty="0"/>
              <a:t>Real-time agricultural data integration </a:t>
            </a:r>
          </a:p>
          <a:p>
            <a:pPr marL="342900" indent="-342900" algn="l">
              <a:buFont typeface="Arial" panose="020B0604020202020204" pitchFamily="34" charset="0"/>
              <a:buChar char="•"/>
            </a:pPr>
            <a:r>
              <a:rPr lang="en-US" sz="2000" dirty="0"/>
              <a:t>Crop and region-wise analysis </a:t>
            </a:r>
          </a:p>
          <a:p>
            <a:pPr marL="342900" indent="-342900" algn="l">
              <a:buFont typeface="Arial" panose="020B0604020202020204" pitchFamily="34" charset="0"/>
              <a:buChar char="•"/>
            </a:pPr>
            <a:r>
              <a:rPr lang="en-US" sz="2000" dirty="0"/>
              <a:t>Yield and profit prediction </a:t>
            </a:r>
          </a:p>
          <a:p>
            <a:pPr marL="342900" indent="-342900" algn="l">
              <a:buFont typeface="Arial" panose="020B0604020202020204" pitchFamily="34" charset="0"/>
              <a:buChar char="•"/>
            </a:pPr>
            <a:r>
              <a:rPr lang="en-US" sz="2000" dirty="0"/>
              <a:t>Smart irrigation recommendations </a:t>
            </a:r>
          </a:p>
          <a:p>
            <a:pPr marL="342900" indent="-342900" algn="l">
              <a:buFont typeface="Arial" panose="020B0604020202020204" pitchFamily="34" charset="0"/>
              <a:buChar char="•"/>
            </a:pPr>
            <a:r>
              <a:rPr lang="en-US" sz="2000" dirty="0"/>
              <a:t>Interactive dashboard development</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993BB2B-B893-CF18-4DD4-6AFB6A4397DC}"/>
              </a:ext>
            </a:extLst>
          </p:cNvPr>
          <p:cNvSpPr txBox="1"/>
          <p:nvPr/>
        </p:nvSpPr>
        <p:spPr>
          <a:xfrm>
            <a:off x="675957" y="2028144"/>
            <a:ext cx="8705461" cy="646331"/>
          </a:xfrm>
          <a:prstGeom prst="rect">
            <a:avLst/>
          </a:prstGeom>
          <a:noFill/>
        </p:spPr>
        <p:txBody>
          <a:bodyPr wrap="square" rtlCol="0">
            <a:spAutoFit/>
          </a:bodyPr>
          <a:lstStyle/>
          <a:p>
            <a:r>
              <a:rPr lang="en-US" dirty="0">
                <a:hlinkClick r:id="rId3"/>
              </a:rPr>
              <a:t>https://github.com/ece2023092-cloud/seasonal_agriculture_performance.git</a:t>
            </a:r>
            <a:endParaRPr lang="en-US" dirty="0"/>
          </a:p>
          <a:p>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3BEE210-45F7-12DA-A659-A80DC1230BE9}"/>
              </a:ext>
            </a:extLst>
          </p:cNvPr>
          <p:cNvPicPr>
            <a:picLocks noChangeAspect="1"/>
          </p:cNvPicPr>
          <p:nvPr/>
        </p:nvPicPr>
        <p:blipFill>
          <a:blip r:embed="rId3"/>
          <a:stretch>
            <a:fillRect/>
          </a:stretch>
        </p:blipFill>
        <p:spPr>
          <a:xfrm>
            <a:off x="1258509" y="1477839"/>
            <a:ext cx="7186283" cy="509060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971892"/>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604</TotalTime>
  <Words>397</Words>
  <Application>Microsoft Office PowerPoint</Application>
  <PresentationFormat>Widescreen</PresentationFormat>
  <Paragraphs>52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Analyzed 4,000 agricultural records to identify seasonal patterns in crop yield, profit, water usage, and environmental conditions using Python, Pandas, Matplotlib, and Seaborn. Developed data-driven insights and recommendations for improving agricultural performance.</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Abhay Yadav</cp:lastModifiedBy>
  <cp:revision>98</cp:revision>
  <dcterms:created xsi:type="dcterms:W3CDTF">2021-07-11T13:13:15Z</dcterms:created>
  <dcterms:modified xsi:type="dcterms:W3CDTF">2026-09-09T11:04:16Z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